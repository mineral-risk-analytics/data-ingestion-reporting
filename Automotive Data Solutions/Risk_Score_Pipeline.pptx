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600">
                <a:solidFill>
                  <a:srgbClr val="FFFFFF"/>
                </a:solidFill>
              </a:rPr>
              <a:t>Battery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600">
                <a:solidFill>
                  <a:srgbClr val="02C39A"/>
                </a:solidFill>
              </a:rPr>
              <a:t>Risk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3547872"/>
            <a:ext cx="3657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800">
                <a:solidFill>
                  <a:srgbClr val="CADCFC"/>
                </a:solidFill>
              </a:rPr>
              <a:t>Data Pipeline  ·  Scoring Engine  ·  Risk 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300">
                <a:solidFill>
                  <a:srgbClr val="8899BB"/>
                </a:solidFill>
              </a:rPr>
              <a:t>A technical overview for the Automotive Data Solutions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</a:rPr>
              <a:t>Data Pipeline: From Raw Data to Risk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41248"/>
            <a:ext cx="28346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8412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841248"/>
            <a:ext cx="448056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8412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DATABASE TABLES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841248"/>
            <a:ext cx="3429000" cy="34747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841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FFFFFF"/>
                </a:solidFill>
              </a:rPr>
              <a:t>SCORING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346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600">
                <a:solidFill>
                  <a:srgbClr val="065A82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8346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600">
                <a:solidFill>
                  <a:srgbClr val="065A82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298448"/>
            <a:ext cx="28346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298448"/>
            <a:ext cx="731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408176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1E293B"/>
                </a:solidFill>
              </a:rPr>
              <a:t>Trade &amp; Pricing</a:t>
            </a:r>
          </a:p>
          <a:p>
            <a:r>
              <a:rPr b="0" i="0" sz="900">
                <a:solidFill>
                  <a:srgbClr val="64748B"/>
                </a:solidFill>
              </a:rPr>
              <a:t>UN Comtrade  ·  World Bank Pink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560320"/>
            <a:ext cx="28346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560320"/>
            <a:ext cx="731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1E293B"/>
                </a:solidFill>
              </a:rPr>
              <a:t>Policy &amp; Sanctions</a:t>
            </a:r>
          </a:p>
          <a:p>
            <a:r>
              <a:rPr b="0" i="0" sz="900">
                <a:solidFill>
                  <a:srgbClr val="64748B"/>
                </a:solidFill>
              </a:rPr>
              <a:t>Federal Register  ·  OpenSanctions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822191"/>
            <a:ext cx="28346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822191"/>
            <a:ext cx="731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931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1E293B"/>
                </a:solidFill>
              </a:rPr>
              <a:t>Financial Filings</a:t>
            </a:r>
          </a:p>
          <a:p>
            <a:r>
              <a:rPr b="0" i="0" sz="900">
                <a:solidFill>
                  <a:srgbClr val="64748B"/>
                </a:solidFill>
              </a:rPr>
              <a:t>SEC EDGAR  ·  GLEIF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084064"/>
            <a:ext cx="28346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5084064"/>
            <a:ext cx="731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5193792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1E293B"/>
                </a:solidFill>
              </a:rPr>
              <a:t>Reference Data</a:t>
            </a:r>
          </a:p>
          <a:p>
            <a:r>
              <a:rPr b="0" i="0" sz="900">
                <a:solidFill>
                  <a:srgbClr val="64748B"/>
                </a:solidFill>
              </a:rPr>
              <a:t>USGS Minerals  ·  Seed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1298448"/>
            <a:ext cx="448056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1298448"/>
            <a:ext cx="73152" cy="7863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1371600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100">
                <a:solidFill>
                  <a:srgbClr val="1E293B"/>
                </a:solidFill>
              </a:rPr>
              <a:t>companies  ·  materials</a:t>
            </a:r>
          </a:p>
          <a:p>
            <a:r>
              <a:rPr b="0" i="0" sz="900">
                <a:solidFill>
                  <a:srgbClr val="64748B"/>
                </a:solidFill>
              </a:rPr>
              <a:t>Reference entities, minerals, HS code mappings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2249424"/>
            <a:ext cx="448056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6160" y="2249424"/>
            <a:ext cx="73152" cy="7863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2322576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100">
                <a:solidFill>
                  <a:srgbClr val="1E293B"/>
                </a:solidFill>
              </a:rPr>
              <a:t>trade_flows</a:t>
            </a:r>
          </a:p>
          <a:p>
            <a:r>
              <a:rPr b="0" i="0" sz="900">
                <a:solidFill>
                  <a:srgbClr val="64748B"/>
                </a:solidFill>
              </a:rPr>
              <a:t>Annual export volumes by country, HS code, 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200400"/>
            <a:ext cx="448056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3200400"/>
            <a:ext cx="73152" cy="7863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0752" y="3273552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100">
                <a:solidFill>
                  <a:srgbClr val="1E293B"/>
                </a:solidFill>
              </a:rPr>
              <a:t>risk_events  ·  source_documents</a:t>
            </a:r>
          </a:p>
          <a:p>
            <a:r>
              <a:rPr b="0" i="0" sz="900">
                <a:solidFill>
                  <a:srgbClr val="64748B"/>
                </a:solidFill>
              </a:rPr>
              <a:t>Policy notices, sanctions matches, SEC filings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151376"/>
            <a:ext cx="448056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6160" y="4151376"/>
            <a:ext cx="73152" cy="7863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0752" y="4224528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100">
                <a:solidFill>
                  <a:srgbClr val="1E293B"/>
                </a:solidFill>
              </a:rPr>
              <a:t>company_material_exposures</a:t>
            </a:r>
          </a:p>
          <a:p>
            <a:r>
              <a:rPr b="0" i="0" sz="900">
                <a:solidFill>
                  <a:srgbClr val="64748B"/>
                </a:solidFill>
              </a:rPr>
              <a:t>Which companies source what materials, from where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5102352"/>
            <a:ext cx="448056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5102352"/>
            <a:ext cx="73152" cy="7863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0752" y="5175504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100">
                <a:solidFill>
                  <a:srgbClr val="1E293B"/>
                </a:solidFill>
              </a:rPr>
              <a:t>company_regulation_exposure</a:t>
            </a:r>
          </a:p>
          <a:p>
            <a:r>
              <a:rPr b="0" i="0" sz="900">
                <a:solidFill>
                  <a:srgbClr val="64748B"/>
                </a:solidFill>
              </a:rPr>
              <a:t>UFLPA · IRA · EU Battery Reg compliance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1298448"/>
            <a:ext cx="3429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1435607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1E293B"/>
                </a:solidFill>
              </a:rPr>
              <a:t>Evidence Query Layer</a:t>
            </a:r>
          </a:p>
          <a:p>
            <a:r>
              <a:rPr b="0" i="0" sz="900">
                <a:solidFill>
                  <a:srgbClr val="64748B"/>
                </a:solidFill>
              </a:rPr>
              <a:t>Aggregates all table data per company per scoring 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5540" y="230428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1295C"/>
                </a:solidFill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560320"/>
            <a:ext cx="3429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269747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1E293B"/>
                </a:solidFill>
              </a:rPr>
              <a:t>5 Pillar Analysis</a:t>
            </a:r>
          </a:p>
          <a:p>
            <a:r>
              <a:rPr b="0" i="0" sz="900">
                <a:solidFill>
                  <a:srgbClr val="64748B"/>
                </a:solidFill>
              </a:rPr>
              <a:t>Material · Geo · Regulatory · Operational · Financial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5540" y="356616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1295C"/>
                </a:solidFill>
              </a:rPr>
              <a:t>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3822191"/>
            <a:ext cx="3429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395935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1E293B"/>
                </a:solidFill>
              </a:rPr>
              <a:t>Weighted Composite</a:t>
            </a:r>
          </a:p>
          <a:p>
            <a:r>
              <a:rPr b="0" i="0" sz="900">
                <a:solidFill>
                  <a:srgbClr val="64748B"/>
                </a:solidFill>
              </a:rPr>
              <a:t>30% + 20% + 20% + 15% + 15%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35540" y="4828031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21295C"/>
                </a:solidFill>
              </a:rPr>
              <a:t>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5084064"/>
            <a:ext cx="3429000" cy="1005840"/>
          </a:xfrm>
          <a:prstGeom prst="rect">
            <a:avLst/>
          </a:prstGeom>
          <a:solidFill>
            <a:srgbClr val="0D3B2E"/>
          </a:solidFill>
          <a:ln w="317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5221224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200">
                <a:solidFill>
                  <a:srgbClr val="02C39A"/>
                </a:solidFill>
              </a:rPr>
              <a:t>company_scores  →  OUTPUT</a:t>
            </a:r>
          </a:p>
          <a:p>
            <a:r>
              <a:rPr b="0" i="0" sz="900">
                <a:solidFill>
                  <a:srgbClr val="CADCFC"/>
                </a:solidFill>
              </a:rPr>
              <a:t>0–100 score  ·  LOW / MOD / HIGH / CRIT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900">
                <a:solidFill>
                  <a:srgbClr val="64748B"/>
                </a:solidFill>
              </a:rPr>
              <a:t>Scores recalculate on demand — ingest new data, then run rescore-all to update all company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The Five Scoring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CADCFC"/>
                </a:solidFill>
              </a:rPr>
              <a:t>Each pillar captures a distinct dimension of supply chain vulnerability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1234440"/>
            <a:ext cx="2148840" cy="5349240"/>
          </a:xfrm>
          <a:prstGeom prst="rect">
            <a:avLst/>
          </a:prstGeom>
          <a:solidFill>
            <a:srgbClr val="EEF4F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900" y="1234440"/>
            <a:ext cx="2148840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" y="1307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8" y="1307592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Material</a:t>
            </a:r>
          </a:p>
          <a:p>
            <a:pPr algn="l"/>
            <a:r>
              <a:rPr b="1" i="0" sz="1300">
                <a:solidFill>
                  <a:srgbClr val="FFFFFF"/>
                </a:solidFill>
              </a:rPr>
              <a:t>Concentration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" y="2377440"/>
            <a:ext cx="1947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1E293B"/>
                </a:solidFill>
              </a:rPr>
              <a:t>Dependence on minerals with limited global supply or dominated by a single country. High score = few alternative sources if supply is restricted.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" y="5120640"/>
            <a:ext cx="1929384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" y="5239512"/>
            <a:ext cx="1984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50">
                <a:solidFill>
                  <a:srgbClr val="4A5568"/>
                </a:solidFill>
              </a:rPr>
              <a:t>company_material_exposures · materials · criticality_signals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4620" y="1234440"/>
            <a:ext cx="2148840" cy="5349240"/>
          </a:xfrm>
          <a:prstGeom prst="rect">
            <a:avLst/>
          </a:prstGeom>
          <a:solidFill>
            <a:srgbClr val="EEF4FA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4620" y="1234440"/>
            <a:ext cx="214884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0340" y="1307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2988" y="1307592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Geopolitical</a:t>
            </a:r>
          </a:p>
          <a:p>
            <a:pPr algn="l"/>
            <a:r>
              <a:rPr b="1" i="0" sz="1300">
                <a:solidFill>
                  <a:srgbClr val="FFFFFF"/>
                </a:solidFill>
              </a:rPr>
              <a:t>&amp; 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4348" y="2377440"/>
            <a:ext cx="1947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1E293B"/>
                </a:solidFill>
              </a:rPr>
              <a:t>Exposure to politically unstable or adversarially-controlled geographies. Elevated by export restrictions, sanctions events, and tariff 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4348" y="5120640"/>
            <a:ext cx="1929384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6060" y="5239512"/>
            <a:ext cx="1984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50">
                <a:solidFill>
                  <a:srgbClr val="4A5568"/>
                </a:solidFill>
              </a:rPr>
              <a:t>risk_events (EXPORT_RESTRICTION · TARIFF) · trade_flows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6340" y="1234440"/>
            <a:ext cx="2148840" cy="5349240"/>
          </a:xfrm>
          <a:prstGeom prst="rect">
            <a:avLst/>
          </a:prstGeom>
          <a:solidFill>
            <a:srgbClr val="EEF4FA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6340" y="1234440"/>
            <a:ext cx="2148840" cy="1051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2060" y="1307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708" y="1307592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Regulatory</a:t>
            </a:r>
          </a:p>
          <a:p>
            <a:pPr algn="l"/>
            <a:r>
              <a:rPr b="1" i="0" sz="1300">
                <a:solidFill>
                  <a:srgbClr val="FFFFFF"/>
                </a:solidFill>
              </a:rPr>
              <a:t>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6068" y="2377440"/>
            <a:ext cx="1947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1E293B"/>
                </a:solidFill>
              </a:rPr>
              <a:t>Active compliance obligations the company hasn't met. UFLPA non-compliance = import ban risk today. IRA/EU Battery Reg = market access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16068" y="5120640"/>
            <a:ext cx="1929384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7780" y="5239512"/>
            <a:ext cx="1984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50">
                <a:solidFill>
                  <a:srgbClr val="4A5568"/>
                </a:solidFill>
              </a:rPr>
              <a:t>company_regulation_exposure · risk_events (REGULATORY)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8060" y="1234440"/>
            <a:ext cx="2148840" cy="5349240"/>
          </a:xfrm>
          <a:prstGeom prst="rect">
            <a:avLst/>
          </a:prstGeom>
          <a:solidFill>
            <a:srgbClr val="EEF4FA"/>
          </a:solidFill>
          <a:ln w="1905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8060" y="1234440"/>
            <a:ext cx="2148840" cy="105156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3780" y="1307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6428" y="1307592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Operational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7788" y="2377440"/>
            <a:ext cx="1947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1E293B"/>
                </a:solidFill>
              </a:rPr>
              <a:t>Physical disruptions — mine shutdowns, factory outages, natural disasters. Grows as live operational events are ingested (Northvolt, BHP Nickel West).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47788" y="5120640"/>
            <a:ext cx="1929384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9500" y="5239512"/>
            <a:ext cx="1984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50">
                <a:solidFill>
                  <a:srgbClr val="4A5568"/>
                </a:solidFill>
              </a:rPr>
              <a:t>risk_events (OPERATIONAL) · company facilities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69780" y="1234440"/>
            <a:ext cx="2148840" cy="5349240"/>
          </a:xfrm>
          <a:prstGeom prst="rect">
            <a:avLst/>
          </a:prstGeom>
          <a:solidFill>
            <a:srgbClr val="EEF4FA"/>
          </a:solidFill>
          <a:ln w="1905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69780" y="1234440"/>
            <a:ext cx="2148840" cy="105156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5500" y="1307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28148" y="1307592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Financial</a:t>
            </a:r>
          </a:p>
          <a:p>
            <a:pPr algn="l"/>
            <a:r>
              <a:rPr b="1" i="0" sz="1300">
                <a:solidFill>
                  <a:srgbClr val="FFFFFF"/>
                </a:solidFill>
              </a:rPr>
              <a:t>Pressure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9508" y="2377440"/>
            <a:ext cx="19476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1E293B"/>
                </a:solidFill>
              </a:rPr>
              <a:t>Balance sheet stress that reduces a company's ability to absorb a supply shock. Derived from SEC filings and financial risk signals.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9508" y="5120640"/>
            <a:ext cx="1929384" cy="3657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61220" y="5239512"/>
            <a:ext cx="1984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50">
                <a:solidFill>
                  <a:srgbClr val="4A5568"/>
                </a:solidFill>
              </a:rPr>
              <a:t>risk_events (FINANCIAL) · SEC EDGAR filings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0" y="6528816"/>
            <a:ext cx="164592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5456" y="65105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LOW  0–34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6528816"/>
            <a:ext cx="164592" cy="25603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25696" y="65105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MOD  35–54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6528816"/>
            <a:ext cx="164592" cy="2560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65105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HIGH  55–74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6528816"/>
            <a:ext cx="164592" cy="256032"/>
          </a:xfrm>
          <a:prstGeom prst="rect">
            <a:avLst/>
          </a:prstGeom>
          <a:solidFill>
            <a:srgbClr val="FF0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6" y="651052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CRIT  75–100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